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11"/>
  </p:notesMasterIdLst>
  <p:handoutMasterIdLst>
    <p:handoutMasterId r:id="rId12"/>
  </p:handoutMasterIdLst>
  <p:sldIdLst>
    <p:sldId id="281" r:id="rId6"/>
    <p:sldId id="367" r:id="rId7"/>
    <p:sldId id="368" r:id="rId8"/>
    <p:sldId id="370" r:id="rId9"/>
    <p:sldId id="371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hris Mills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5A5"/>
    <a:srgbClr val="A7A9AC"/>
    <a:srgbClr val="CCDB2A"/>
    <a:srgbClr val="67C18C"/>
    <a:srgbClr val="A4CF5F"/>
    <a:srgbClr val="E6E6E6"/>
    <a:srgbClr val="E5E5E6"/>
    <a:srgbClr val="00B0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923" autoAdjust="0"/>
    <p:restoredTop sz="94241"/>
  </p:normalViewPr>
  <p:slideViewPr>
    <p:cSldViewPr snapToGrid="0">
      <p:cViewPr varScale="1">
        <p:scale>
          <a:sx n="92" d="100"/>
          <a:sy n="92" d="100"/>
        </p:scale>
        <p:origin x="94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1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09DC41-25F1-E143-9B2F-2A57078EDD7C}" type="datetimeFigureOut">
              <a:rPr lang="en-US" smtClean="0"/>
              <a:t>7/21/2017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D2E7E6-FFB6-964B-8E94-6205C8F18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00097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6912BA62-0632-9E4A-ABD3-2BBF28203736}" type="datetimeFigureOut">
              <a:rPr lang="en-US"/>
              <a:pPr>
                <a:defRPr/>
              </a:pPr>
              <a:t>7/21/2017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F3AEA33C-9FDA-DF4B-A4EB-55282BF27EB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26925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5564188"/>
            <a:ext cx="1527175" cy="1230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5513388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smtClean="0"/>
              <a:t>Drag picture to placeholder or click icon to add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3358" y="5727726"/>
            <a:ext cx="5537200" cy="369332"/>
          </a:xfrm>
          <a:prstGeom prst="rect">
            <a:avLst/>
          </a:prstGeom>
        </p:spPr>
        <p:txBody>
          <a:bodyPr>
            <a:sp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3358" y="6094342"/>
            <a:ext cx="553720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buNone/>
              <a:defRPr sz="16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8190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" y="5800725"/>
            <a:ext cx="1128713" cy="76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89225" y="5749155"/>
            <a:ext cx="5537199" cy="369332"/>
          </a:xfrm>
          <a:prstGeom prst="rect">
            <a:avLst/>
          </a:prstGeom>
        </p:spPr>
        <p:txBody>
          <a:bodyPr>
            <a:sp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89225" y="6094342"/>
            <a:ext cx="553720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buNone/>
              <a:defRPr sz="16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2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2081215" y="541792"/>
            <a:ext cx="4983480" cy="5011510"/>
          </a:xfrm>
          <a:prstGeom prst="ellipse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smtClean="0"/>
              <a:t>Drag picture to placeholder or click icon to add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12626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Simple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>
            <a:spLocks noChangeAspect="1"/>
          </p:cNvSpPr>
          <p:nvPr/>
        </p:nvSpPr>
        <p:spPr>
          <a:xfrm>
            <a:off x="6477000" y="525463"/>
            <a:ext cx="1801813" cy="1801812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5" name="Oval 4"/>
          <p:cNvSpPr>
            <a:spLocks noChangeAspect="1"/>
          </p:cNvSpPr>
          <p:nvPr/>
        </p:nvSpPr>
        <p:spPr>
          <a:xfrm>
            <a:off x="6477000" y="2522538"/>
            <a:ext cx="1801813" cy="1801812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6" name="Oval 5"/>
          <p:cNvSpPr>
            <a:spLocks noChangeAspect="1"/>
          </p:cNvSpPr>
          <p:nvPr/>
        </p:nvSpPr>
        <p:spPr>
          <a:xfrm>
            <a:off x="6477000" y="4516438"/>
            <a:ext cx="1801813" cy="1800225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pic>
        <p:nvPicPr>
          <p:cNvPr id="7" name="Picture 1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5564188"/>
            <a:ext cx="1527175" cy="1230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5313" y="2815991"/>
            <a:ext cx="5534025" cy="369332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5313" y="3229774"/>
            <a:ext cx="5534025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buNone/>
              <a:defRPr sz="16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939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Image_Footer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55133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5545138"/>
            <a:ext cx="1527175" cy="122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581660" y="4241801"/>
            <a:ext cx="856234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594360" y="563563"/>
            <a:ext cx="8549640" cy="1575816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6400" b="1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594360" y="2177538"/>
            <a:ext cx="8549640" cy="15758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6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3043358" y="5727726"/>
            <a:ext cx="5537200" cy="369332"/>
          </a:xfrm>
          <a:prstGeom prst="rect">
            <a:avLst/>
          </a:prstGeom>
        </p:spPr>
        <p:txBody>
          <a:bodyPr>
            <a:sp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Subtitle 2"/>
          <p:cNvSpPr>
            <a:spLocks noGrp="1"/>
          </p:cNvSpPr>
          <p:nvPr>
            <p:ph type="subTitle" idx="1"/>
          </p:nvPr>
        </p:nvSpPr>
        <p:spPr>
          <a:xfrm>
            <a:off x="3043358" y="6094342"/>
            <a:ext cx="553720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buNone/>
              <a:defRPr sz="16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9724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228600" y="1361400"/>
            <a:ext cx="7652657" cy="16349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347663" indent="-347663">
              <a:lnSpc>
                <a:spcPct val="83000"/>
              </a:lnSpc>
              <a:spcBef>
                <a:spcPts val="0"/>
              </a:spcBef>
              <a:buNone/>
              <a:defRPr sz="6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464564" y="4913767"/>
            <a:ext cx="7529512" cy="36933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174625" indent="-174625">
              <a:buFont typeface="Trebuchet MS" panose="020B0603020202020204" pitchFamily="34" charset="0"/>
              <a:buChar char="–"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81008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13"/>
          <p:cNvSpPr>
            <a:spLocks noGrp="1"/>
          </p:cNvSpPr>
          <p:nvPr>
            <p:ph sz="quarter" idx="13"/>
          </p:nvPr>
        </p:nvSpPr>
        <p:spPr>
          <a:xfrm>
            <a:off x="598706" y="1138378"/>
            <a:ext cx="7960078" cy="4850942"/>
          </a:xfrm>
          <a:prstGeom prst="rect">
            <a:avLst/>
          </a:prstGeom>
        </p:spPr>
        <p:txBody>
          <a:bodyPr/>
          <a:lstStyle>
            <a:lvl1pPr marL="228600" indent="-228600">
              <a:spcAft>
                <a:spcPts val="600"/>
              </a:spcAft>
              <a:buFont typeface="Arial" panose="020B0604020202020204" pitchFamily="34" charset="0"/>
              <a:buChar char="•"/>
              <a:defRPr/>
            </a:lvl1pPr>
            <a:lvl3pPr marL="685800" indent="-228600"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4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589561" y="283464"/>
            <a:ext cx="7951153" cy="739956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Page </a:t>
            </a:r>
            <a:fld id="{0F0F3D35-42EE-2C4F-87B5-85519167EC6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Footer Placeholder 10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Data Strategy and BI at CDK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091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Gree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0604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589561" y="283464"/>
            <a:ext cx="7951153" cy="739956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3"/>
          </p:nvPr>
        </p:nvSpPr>
        <p:spPr>
          <a:xfrm>
            <a:off x="598706" y="1138378"/>
            <a:ext cx="7960078" cy="4850942"/>
          </a:xfrm>
          <a:prstGeom prst="rect">
            <a:avLst/>
          </a:prstGeom>
        </p:spPr>
        <p:txBody>
          <a:bodyPr/>
          <a:lstStyle>
            <a:lvl1pPr marL="228600" indent="-228600">
              <a:spcAft>
                <a:spcPts val="600"/>
              </a:spcAft>
              <a:buFont typeface="Arial" panose="020B0604020202020204" pitchFamily="34" charset="0"/>
              <a:buChar char="•"/>
              <a:defRPr/>
            </a:lvl1pPr>
            <a:lvl3pPr marL="685800" indent="-228600"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4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 algn="l">
              <a:defRPr sz="1000">
                <a:solidFill>
                  <a:sysClr val="windowText" lastClr="000000"/>
                </a:solidFill>
              </a:defRPr>
            </a:lvl1pPr>
          </a:lstStyle>
          <a:p>
            <a:pPr>
              <a:defRPr/>
            </a:pPr>
            <a:r>
              <a:rPr lang="en-US"/>
              <a:t>Page </a:t>
            </a:r>
            <a:fld id="{147430C0-E2C2-6149-BDC3-39AF5FA96E8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Footer Placeholder 10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 algn="r">
              <a:defRPr sz="1000">
                <a:solidFill>
                  <a:sysClr val="windowText" lastClr="000000"/>
                </a:solidFill>
              </a:defRPr>
            </a:lvl1pPr>
          </a:lstStyle>
          <a:p>
            <a:pPr>
              <a:defRPr/>
            </a:pPr>
            <a:r>
              <a:rPr lang="en-US" smtClean="0"/>
              <a:t>Data Strategy and BI at CDK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973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Dense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589561" y="283464"/>
            <a:ext cx="7951153" cy="739956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Content Placeholder 13"/>
          <p:cNvSpPr>
            <a:spLocks noGrp="1"/>
          </p:cNvSpPr>
          <p:nvPr>
            <p:ph sz="quarter" idx="13"/>
          </p:nvPr>
        </p:nvSpPr>
        <p:spPr>
          <a:xfrm>
            <a:off x="598706" y="1138378"/>
            <a:ext cx="7960078" cy="4850942"/>
          </a:xfrm>
          <a:prstGeom prst="rect">
            <a:avLst/>
          </a:prstGeom>
        </p:spPr>
        <p:txBody>
          <a:bodyPr/>
          <a:lstStyle>
            <a:lvl1pPr marL="228600" indent="-228600">
              <a:spcAft>
                <a:spcPts val="600"/>
              </a:spcAft>
              <a:buFont typeface="Arial" panose="020B0604020202020204" pitchFamily="34" charset="0"/>
              <a:buChar char="•"/>
              <a:defRPr/>
            </a:lvl1pPr>
            <a:lvl3pPr marL="685800" indent="-228600"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4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Page </a:t>
            </a:r>
            <a:fld id="{F03BEFD9-EB19-224B-8424-FFA8545F7F6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Footer Placeholder 10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Data Strategy and BI at CDK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5619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499" y="383937"/>
            <a:ext cx="7951153" cy="3185487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lnSpc>
                <a:spcPct val="90000"/>
              </a:lnSpc>
              <a:defRPr sz="11500" b="1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485500" y="3533090"/>
            <a:ext cx="7951153" cy="24431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1500" b="1"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70657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Lo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94360" y="2522984"/>
            <a:ext cx="7951154" cy="1046440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lnSpc>
                <a:spcPct val="85000"/>
              </a:lnSpc>
              <a:defRPr sz="8000" b="1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594360" y="3533090"/>
            <a:ext cx="7951153" cy="24431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8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3798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sz="quarter" idx="13"/>
          </p:nvPr>
        </p:nvSpPr>
        <p:spPr>
          <a:xfrm>
            <a:off x="598706" y="1136658"/>
            <a:ext cx="3657600" cy="4352786"/>
          </a:xfrm>
          <a:prstGeom prst="rect">
            <a:avLst/>
          </a:prstGeom>
        </p:spPr>
        <p:txBody>
          <a:bodyPr/>
          <a:lstStyle>
            <a:lvl1pPr marL="228600" indent="-228600">
              <a:spcAft>
                <a:spcPts val="600"/>
              </a:spcAft>
              <a:buFont typeface="Arial" panose="020B0604020202020204" pitchFamily="34" charset="0"/>
              <a:buChar char="•"/>
              <a:defRPr/>
            </a:lvl1pPr>
            <a:lvl3pPr marL="685800" indent="-228600"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4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10" name="Content Placeholder 13"/>
          <p:cNvSpPr>
            <a:spLocks noGrp="1"/>
          </p:cNvSpPr>
          <p:nvPr>
            <p:ph sz="quarter" idx="14"/>
          </p:nvPr>
        </p:nvSpPr>
        <p:spPr>
          <a:xfrm>
            <a:off x="4454426" y="1147898"/>
            <a:ext cx="3657600" cy="4352786"/>
          </a:xfrm>
          <a:prstGeom prst="rect">
            <a:avLst/>
          </a:prstGeom>
        </p:spPr>
        <p:txBody>
          <a:bodyPr/>
          <a:lstStyle>
            <a:lvl1pPr marL="228600" indent="-228600">
              <a:spcAft>
                <a:spcPts val="600"/>
              </a:spcAft>
              <a:buFont typeface="Arial" panose="020B0604020202020204" pitchFamily="34" charset="0"/>
              <a:buChar char="•"/>
              <a:defRPr/>
            </a:lvl1pPr>
            <a:lvl3pPr marL="685800" indent="-228600"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4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589561" y="283464"/>
            <a:ext cx="7951153" cy="739956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Page </a:t>
            </a:r>
            <a:fld id="{C6C6D3B3-11E1-B64F-9DCA-697B4544DFF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Footer Placeholder 10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Data Strategy and BI at CDK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6037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_Char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589561" y="283464"/>
            <a:ext cx="7951153" cy="739956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13"/>
          <p:cNvSpPr>
            <a:spLocks noGrp="1"/>
          </p:cNvSpPr>
          <p:nvPr>
            <p:ph sz="quarter" idx="13"/>
          </p:nvPr>
        </p:nvSpPr>
        <p:spPr>
          <a:xfrm>
            <a:off x="598706" y="1138378"/>
            <a:ext cx="7960078" cy="4850942"/>
          </a:xfrm>
          <a:prstGeom prst="rect">
            <a:avLst/>
          </a:prstGeom>
        </p:spPr>
        <p:txBody>
          <a:bodyPr/>
          <a:lstStyle>
            <a:lvl1pPr marL="228600" indent="-228600">
              <a:spcAft>
                <a:spcPts val="600"/>
              </a:spcAft>
              <a:buFont typeface="Arial" panose="020B0604020202020204" pitchFamily="34" charset="0"/>
              <a:buChar char="•"/>
              <a:defRPr/>
            </a:lvl1pPr>
            <a:lvl3pPr marL="685800" indent="-228600"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4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Page </a:t>
            </a:r>
            <a:fld id="{8B1A22E7-BE93-3C48-AF84-CCBE4AFC2D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Footer Placeholder 10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Data Strategy and BI at CDK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0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561" y="283464"/>
            <a:ext cx="7951153" cy="73995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567050"/>
            <a:ext cx="3657600" cy="30777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99624" y="1567050"/>
            <a:ext cx="3657600" cy="30777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Content Placeholder 13"/>
          <p:cNvSpPr>
            <a:spLocks noGrp="1"/>
          </p:cNvSpPr>
          <p:nvPr>
            <p:ph sz="quarter" idx="13"/>
          </p:nvPr>
        </p:nvSpPr>
        <p:spPr>
          <a:xfrm>
            <a:off x="589562" y="1917322"/>
            <a:ext cx="3657600" cy="3469055"/>
          </a:xfrm>
          <a:prstGeom prst="rect">
            <a:avLst/>
          </a:prstGeom>
        </p:spPr>
        <p:txBody>
          <a:bodyPr/>
          <a:lstStyle>
            <a:lvl1pPr marL="228600" indent="-228600">
              <a:spcAft>
                <a:spcPts val="600"/>
              </a:spcAft>
              <a:buFont typeface="Arial" panose="020B0604020202020204" pitchFamily="34" charset="0"/>
              <a:buChar char="•"/>
              <a:defRPr/>
            </a:lvl1pPr>
            <a:lvl3pPr marL="685800" indent="-228600"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4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4"/>
          </p:nvPr>
        </p:nvSpPr>
        <p:spPr>
          <a:xfrm>
            <a:off x="4692170" y="1914274"/>
            <a:ext cx="3657600" cy="3486391"/>
          </a:xfrm>
          <a:prstGeom prst="rect">
            <a:avLst/>
          </a:prstGeom>
        </p:spPr>
        <p:txBody>
          <a:bodyPr/>
          <a:lstStyle>
            <a:lvl1pPr marL="228600" indent="-228600">
              <a:spcAft>
                <a:spcPts val="600"/>
              </a:spcAft>
              <a:buFont typeface="Arial" panose="020B0604020202020204" pitchFamily="34" charset="0"/>
              <a:buChar char="•"/>
              <a:defRPr/>
            </a:lvl1pPr>
            <a:lvl3pPr marL="685800" indent="-228600"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4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Page </a:t>
            </a:r>
            <a:fld id="{04764823-A697-8947-8C36-DCCF4602FEB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Footer Placeholder 10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Data Strategy and BI at CDK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3209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561" y="283464"/>
            <a:ext cx="7951153" cy="739956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Page </a:t>
            </a:r>
            <a:fld id="{B367F135-3AD4-9C4D-96BF-B959924771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Data Strategy and BI at CDK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81620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No Ru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563" y="5967413"/>
            <a:ext cx="1022350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Straight Connector 3"/>
          <p:cNvCxnSpPr/>
          <p:nvPr/>
        </p:nvCxnSpPr>
        <p:spPr>
          <a:xfrm>
            <a:off x="593725" y="1023938"/>
            <a:ext cx="79549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589561" y="283464"/>
            <a:ext cx="7951153" cy="739956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Page </a:t>
            </a:r>
            <a:fld id="{88CCE854-3F3D-F748-9DD9-B7FAAD08883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 smtClean="0"/>
              <a:t>Data Strategy and BI at CDK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11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563" y="5967413"/>
            <a:ext cx="1022350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 sz="1000">
                <a:solidFill>
                  <a:sysClr val="windowText" lastClr="000000"/>
                </a:solidFill>
              </a:defRPr>
            </a:lvl1pPr>
          </a:lstStyle>
          <a:p>
            <a:pPr>
              <a:defRPr/>
            </a:pPr>
            <a:r>
              <a:rPr lang="en-US"/>
              <a:t>Page </a:t>
            </a:r>
            <a:fld id="{AE12E39D-1E3D-E242-9BFC-7F7C46181DE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 sz="1000">
                <a:solidFill>
                  <a:sysClr val="windowText" lastClr="000000"/>
                </a:solidFill>
              </a:defRPr>
            </a:lvl1pPr>
          </a:lstStyle>
          <a:p>
            <a:pPr>
              <a:defRPr/>
            </a:pPr>
            <a:r>
              <a:rPr lang="en-US" smtClean="0"/>
              <a:t>Data Strategy and BI at CDK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33415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 Only No Ru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563" y="5967413"/>
            <a:ext cx="1022350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594360" y="800096"/>
            <a:ext cx="7951153" cy="369332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Page </a:t>
            </a:r>
            <a:fld id="{CA5E9F0B-948B-1A45-AAF1-5260A83B14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Footer Placeholder 10"/>
          <p:cNvSpPr>
            <a:spLocks noGrp="1"/>
          </p:cNvSpPr>
          <p:nvPr>
            <p:ph type="ftr" sz="quarter" idx="12"/>
          </p:nvPr>
        </p:nvSpPr>
        <p:spPr>
          <a:xfrm>
            <a:off x="2274888" y="6338888"/>
            <a:ext cx="5683250" cy="153987"/>
          </a:xfrm>
        </p:spPr>
        <p:txBody>
          <a:bodyPr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 smtClean="0"/>
              <a:t>Data Strategy and BI at CDK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9017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_Title Only No Ru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563" y="5967413"/>
            <a:ext cx="1022350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594360" y="800096"/>
            <a:ext cx="7951153" cy="369332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Page </a:t>
            </a:r>
            <a:fld id="{2277706B-351B-BD44-838D-1E0D0B0E86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Footer Placeholder 10"/>
          <p:cNvSpPr>
            <a:spLocks noGrp="1"/>
          </p:cNvSpPr>
          <p:nvPr>
            <p:ph type="ftr" sz="quarter" idx="12"/>
          </p:nvPr>
        </p:nvSpPr>
        <p:spPr>
          <a:xfrm>
            <a:off x="2274888" y="6338888"/>
            <a:ext cx="5683250" cy="153987"/>
          </a:xfrm>
        </p:spPr>
        <p:txBody>
          <a:bodyPr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 smtClean="0"/>
              <a:t>Data Strategy and BI at CDK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4796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Title Only No Ru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563" y="5967413"/>
            <a:ext cx="1022350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594360" y="800096"/>
            <a:ext cx="7951153" cy="369332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Page </a:t>
            </a:r>
            <a:fld id="{F9B25C76-611D-164F-A3EB-35EF15E1A3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Footer Placeholder 10"/>
          <p:cNvSpPr>
            <a:spLocks noGrp="1"/>
          </p:cNvSpPr>
          <p:nvPr>
            <p:ph type="ftr" sz="quarter" idx="12"/>
          </p:nvPr>
        </p:nvSpPr>
        <p:spPr>
          <a:xfrm>
            <a:off x="2274888" y="6338888"/>
            <a:ext cx="5683250" cy="153987"/>
          </a:xfrm>
        </p:spPr>
        <p:txBody>
          <a:bodyPr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 smtClean="0"/>
              <a:t>Data Strategy and BI at CDK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7090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4_Title Only No Ru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563" y="5967413"/>
            <a:ext cx="1022350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594360" y="800096"/>
            <a:ext cx="7951153" cy="369332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Page </a:t>
            </a:r>
            <a:fld id="{F8DAE1F0-910B-2F43-8052-C3564116A2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Footer Placeholder 10"/>
          <p:cNvSpPr>
            <a:spLocks noGrp="1"/>
          </p:cNvSpPr>
          <p:nvPr>
            <p:ph type="ftr" sz="quarter" idx="12"/>
          </p:nvPr>
        </p:nvSpPr>
        <p:spPr>
          <a:xfrm>
            <a:off x="2274888" y="6338888"/>
            <a:ext cx="5683250" cy="153987"/>
          </a:xfrm>
        </p:spPr>
        <p:txBody>
          <a:bodyPr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 smtClean="0"/>
              <a:t>Data Strategy and BI at CDK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5316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5_Title Only No Ru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563" y="5967413"/>
            <a:ext cx="1022350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594360" y="800096"/>
            <a:ext cx="7951153" cy="369332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Page </a:t>
            </a:r>
            <a:fld id="{5A792357-9B66-8043-8163-0932B81248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Footer Placeholder 10"/>
          <p:cNvSpPr>
            <a:spLocks noGrp="1"/>
          </p:cNvSpPr>
          <p:nvPr>
            <p:ph type="ftr" sz="quarter" idx="12"/>
          </p:nvPr>
        </p:nvSpPr>
        <p:spPr>
          <a:xfrm>
            <a:off x="2274888" y="6338888"/>
            <a:ext cx="5683250" cy="153987"/>
          </a:xfrm>
        </p:spPr>
        <p:txBody>
          <a:bodyPr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 smtClean="0"/>
              <a:t>Data Strategy and BI at CDK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639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594360" y="800096"/>
            <a:ext cx="7951153" cy="369332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Page </a:t>
            </a:r>
            <a:fld id="{BE5382B7-2B84-394F-92CA-D730290BB7D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Footer Placeholder 10"/>
          <p:cNvSpPr>
            <a:spLocks noGrp="1"/>
          </p:cNvSpPr>
          <p:nvPr>
            <p:ph type="ftr" sz="quarter" idx="12"/>
          </p:nvPr>
        </p:nvSpPr>
        <p:spPr>
          <a:xfrm>
            <a:off x="2274888" y="6338888"/>
            <a:ext cx="5683250" cy="153987"/>
          </a:xfrm>
        </p:spPr>
        <p:txBody>
          <a:bodyPr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 smtClean="0"/>
              <a:t>Data Strategy and BI at CDK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981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35925" y="6338888"/>
            <a:ext cx="487363" cy="1539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Page </a:t>
            </a:r>
            <a:fld id="{B2340CAA-B2A8-B646-BC4B-C758DB83889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3"/>
          </p:nvPr>
        </p:nvSpPr>
        <p:spPr>
          <a:xfrm>
            <a:off x="3473450" y="6338888"/>
            <a:ext cx="4505325" cy="1539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smtClean="0"/>
              <a:t>Data Strategy and BI at CDK</a:t>
            </a:r>
            <a:endParaRPr lang="en-US" dirty="0"/>
          </a:p>
        </p:txBody>
      </p:sp>
      <p:pic>
        <p:nvPicPr>
          <p:cNvPr id="1028" name="Picture 11"/>
          <p:cNvPicPr>
            <a:picLocks noChangeAspect="1"/>
          </p:cNvPicPr>
          <p:nvPr/>
        </p:nvPicPr>
        <p:blipFill>
          <a:blip r:embed="rId2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563" y="5967413"/>
            <a:ext cx="1022350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6" name="Straight Connector 15"/>
          <p:cNvCxnSpPr/>
          <p:nvPr/>
        </p:nvCxnSpPr>
        <p:spPr>
          <a:xfrm>
            <a:off x="593725" y="1023938"/>
            <a:ext cx="79549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0" name="Title Placeholder 1"/>
          <p:cNvSpPr>
            <a:spLocks noGrp="1"/>
          </p:cNvSpPr>
          <p:nvPr>
            <p:ph type="title"/>
          </p:nvPr>
        </p:nvSpPr>
        <p:spPr bwMode="auto">
          <a:xfrm>
            <a:off x="588963" y="284163"/>
            <a:ext cx="7951787" cy="739775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8" r:id="rId1"/>
    <p:sldLayoutId id="2147484029" r:id="rId2"/>
    <p:sldLayoutId id="2147484030" r:id="rId3"/>
    <p:sldLayoutId id="2147484031" r:id="rId4"/>
    <p:sldLayoutId id="2147484032" r:id="rId5"/>
    <p:sldLayoutId id="2147484022" r:id="rId6"/>
    <p:sldLayoutId id="2147484033" r:id="rId7"/>
    <p:sldLayoutId id="2147484023" r:id="rId8"/>
    <p:sldLayoutId id="2147484034" r:id="rId9"/>
    <p:sldLayoutId id="2147484035" r:id="rId10"/>
    <p:sldLayoutId id="2147484024" r:id="rId11"/>
    <p:sldLayoutId id="2147484025" r:id="rId12"/>
    <p:sldLayoutId id="2147484026" r:id="rId13"/>
    <p:sldLayoutId id="2147484027" r:id="rId14"/>
    <p:sldLayoutId id="2147484036" r:id="rId15"/>
    <p:sldLayoutId id="2147484037" r:id="rId16"/>
    <p:sldLayoutId id="2147484038" r:id="rId17"/>
    <p:sldLayoutId id="2147484039" r:id="rId18"/>
    <p:sldLayoutId id="2147484040" r:id="rId19"/>
    <p:sldLayoutId id="2147484041" r:id="rId20"/>
    <p:sldLayoutId id="2147484042" r:id="rId21"/>
    <p:sldLayoutId id="2147484043" r:id="rId22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 kern="12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0"/>
        </a:spcBef>
        <a:spcAft>
          <a:spcPct val="0"/>
        </a:spcAft>
        <a:buFont typeface="Arial" charset="0"/>
        <a:defRPr sz="20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228600" indent="-228600" algn="l" rtl="0" eaLnBrk="1" fontAlgn="base" hangingPunct="1">
        <a:spcBef>
          <a:spcPts val="24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628650" indent="-171450" algn="l" rtl="0" eaLnBrk="1" fontAlgn="base" hangingPunct="1">
        <a:spcBef>
          <a:spcPct val="0"/>
        </a:spcBef>
        <a:spcAft>
          <a:spcPct val="0"/>
        </a:spcAft>
        <a:buFont typeface="Arial" charset="0"/>
        <a:buChar char="–"/>
        <a:defRPr sz="16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033463" indent="-173038" algn="l" rtl="0" eaLnBrk="1" fontAlgn="base" hangingPunct="1">
        <a:spcBef>
          <a:spcPct val="0"/>
        </a:spcBef>
        <a:spcAft>
          <a:spcPct val="0"/>
        </a:spcAft>
        <a:buFont typeface="Arial" charset="0"/>
        <a:buChar char="•"/>
        <a:defRPr sz="14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1371600" indent="-228600" algn="l" rtl="0" eaLnBrk="1" fontAlgn="base" hangingPunct="1">
        <a:spcBef>
          <a:spcPct val="0"/>
        </a:spcBef>
        <a:spcAft>
          <a:spcPct val="0"/>
        </a:spcAft>
        <a:buFont typeface="Arial" charset="0"/>
        <a:buChar char="–"/>
        <a:defRPr sz="12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5" name="Picture Placeholder 14"/>
          <p:cNvPicPr>
            <a:picLocks noGrp="1" noChangeAspect="1"/>
          </p:cNvPicPr>
          <p:nvPr>
            <p:ph type="pic" sz="quarter" idx="13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8"/>
            <a:ext cx="9144000" cy="5510212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6" name="Title 9"/>
          <p:cNvSpPr>
            <a:spLocks noGrp="1"/>
          </p:cNvSpPr>
          <p:nvPr>
            <p:ph type="ctrTitle"/>
          </p:nvPr>
        </p:nvSpPr>
        <p:spPr>
          <a:xfrm>
            <a:off x="1735282" y="5659716"/>
            <a:ext cx="7192150" cy="738664"/>
          </a:xfrm>
        </p:spPr>
        <p:txBody>
          <a:bodyPr anchor="t"/>
          <a:lstStyle/>
          <a:p>
            <a:r>
              <a:rPr lang="en-US" dirty="0" smtClean="0">
                <a:latin typeface="Arial" charset="0"/>
              </a:rPr>
              <a:t>Ionic – Hackathon 2017</a:t>
            </a:r>
            <a:br>
              <a:rPr lang="en-US" dirty="0" smtClean="0">
                <a:latin typeface="Arial" charset="0"/>
              </a:rPr>
            </a:br>
            <a:r>
              <a:rPr lang="en-US" dirty="0" smtClean="0">
                <a:latin typeface="Arial" charset="0"/>
              </a:rPr>
              <a:t>21-Jul-2017</a:t>
            </a:r>
            <a:endParaRPr lang="en-US" dirty="0">
              <a:latin typeface="Arial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92113"/>
          </a:xfrm>
          <a:prstGeom prst="rect">
            <a:avLst/>
          </a:prstGeom>
          <a:solidFill>
            <a:srgbClr val="82C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CA" sz="1800"/>
          </a:p>
        </p:txBody>
      </p:sp>
      <p:pic>
        <p:nvPicPr>
          <p:cNvPr id="26629" name="Picture 6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6238" y="55563"/>
            <a:ext cx="363855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14"/>
          <p:cNvSpPr>
            <a:spLocks noGrp="1"/>
          </p:cNvSpPr>
          <p:nvPr>
            <p:ph type="sldNum" sz="quarter" idx="14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mtClean="0">
                <a:solidFill>
                  <a:srgbClr val="000000"/>
                </a:solidFill>
              </a:rPr>
              <a:t>Page </a:t>
            </a:r>
            <a:fld id="{ACC5980C-6F40-1048-BC61-1701E5E4E8FB}" type="slidenum">
              <a:rPr lang="en-US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44035" name="Footer Placeholder 13"/>
          <p:cNvSpPr>
            <a:spLocks noGrp="1"/>
          </p:cNvSpPr>
          <p:nvPr>
            <p:ph type="ftr" sz="quarter" idx="15"/>
          </p:nvPr>
        </p:nvSpPr>
        <p:spPr bwMode="auto">
          <a:xfrm>
            <a:off x="3530600" y="6197417"/>
            <a:ext cx="4505325" cy="153987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Monthly Updates - </a:t>
            </a:r>
            <a:r>
              <a:rPr lang="en-US" dirty="0" smtClean="0">
                <a:solidFill>
                  <a:srgbClr val="000000"/>
                </a:solidFill>
              </a:rPr>
              <a:t>&lt;Network Integration Services&gt;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6868" name="Title 3"/>
          <p:cNvSpPr>
            <a:spLocks noGrp="1"/>
          </p:cNvSpPr>
          <p:nvPr>
            <p:ph type="title"/>
          </p:nvPr>
        </p:nvSpPr>
        <p:spPr>
          <a:xfrm>
            <a:off x="606997" y="266351"/>
            <a:ext cx="7951787" cy="739775"/>
          </a:xfrm>
        </p:spPr>
        <p:txBody>
          <a:bodyPr/>
          <a:lstStyle/>
          <a:p>
            <a:r>
              <a:rPr lang="en-US" dirty="0" smtClean="0">
                <a:latin typeface="Arial" charset="0"/>
              </a:rPr>
              <a:t>Context Setting</a:t>
            </a:r>
            <a:endParaRPr lang="en-US" dirty="0">
              <a:latin typeface="Arial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11448" y="1084405"/>
            <a:ext cx="793432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Today, the world is moving towards Mobility.</a:t>
            </a:r>
          </a:p>
          <a:p>
            <a:endParaRPr lang="en-US" sz="2000" dirty="0"/>
          </a:p>
          <a:p>
            <a:r>
              <a:rPr lang="en-US" sz="2000" dirty="0" smtClean="0"/>
              <a:t>Mobility gives the needed power and flexibility to do things in a faster and efficient manner.</a:t>
            </a:r>
          </a:p>
          <a:p>
            <a:endParaRPr lang="en-US" sz="2000" dirty="0"/>
          </a:p>
          <a:p>
            <a:r>
              <a:rPr lang="en-US" sz="2000" dirty="0" smtClean="0"/>
              <a:t>Taking this forward, the Ionic Hackathon team would like to empower the end customer of Auto Dealerships.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50417614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14"/>
          <p:cNvSpPr>
            <a:spLocks noGrp="1"/>
          </p:cNvSpPr>
          <p:nvPr>
            <p:ph type="sldNum" sz="quarter" idx="14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mtClean="0">
                <a:solidFill>
                  <a:srgbClr val="000000"/>
                </a:solidFill>
              </a:rPr>
              <a:t>Page </a:t>
            </a:r>
            <a:fld id="{ACC5980C-6F40-1048-BC61-1701E5E4E8FB}" type="slidenum">
              <a:rPr lang="en-US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44035" name="Footer Placeholder 13"/>
          <p:cNvSpPr>
            <a:spLocks noGrp="1"/>
          </p:cNvSpPr>
          <p:nvPr>
            <p:ph type="ftr" sz="quarter" idx="15"/>
          </p:nvPr>
        </p:nvSpPr>
        <p:spPr bwMode="auto">
          <a:xfrm>
            <a:off x="3530600" y="6197417"/>
            <a:ext cx="4505325" cy="153987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Monthly Updates - </a:t>
            </a:r>
            <a:r>
              <a:rPr lang="en-US" dirty="0" smtClean="0">
                <a:solidFill>
                  <a:srgbClr val="000000"/>
                </a:solidFill>
              </a:rPr>
              <a:t>&lt;Network Integration Services&gt;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6868" name="Title 3"/>
          <p:cNvSpPr>
            <a:spLocks noGrp="1"/>
          </p:cNvSpPr>
          <p:nvPr>
            <p:ph type="title"/>
          </p:nvPr>
        </p:nvSpPr>
        <p:spPr>
          <a:xfrm>
            <a:off x="606997" y="266351"/>
            <a:ext cx="7951787" cy="739775"/>
          </a:xfrm>
        </p:spPr>
        <p:txBody>
          <a:bodyPr/>
          <a:lstStyle/>
          <a:p>
            <a:r>
              <a:rPr lang="en-US" dirty="0" smtClean="0">
                <a:latin typeface="Arial" charset="0"/>
              </a:rPr>
              <a:t>Content</a:t>
            </a:r>
            <a:endParaRPr lang="en-US" dirty="0">
              <a:latin typeface="Arial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11448" y="1084405"/>
            <a:ext cx="7934325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This App is provided to a Customer with every sale of a Vehicle or when a Service is done for the first time at the Dealership.</a:t>
            </a:r>
          </a:p>
          <a:p>
            <a:endParaRPr lang="en-US" sz="2000" dirty="0"/>
          </a:p>
          <a:p>
            <a:r>
              <a:rPr lang="en-US" sz="2000" dirty="0" smtClean="0"/>
              <a:t>High level features of this application:</a:t>
            </a:r>
          </a:p>
          <a:p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Road side assistance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Push notifications for Service Reminder, Insurance </a:t>
            </a:r>
            <a:r>
              <a:rPr lang="en-US" sz="2000" dirty="0" err="1" smtClean="0"/>
              <a:t>etc</a:t>
            </a: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Online payment facility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Technician’s skill and ratings</a:t>
            </a:r>
            <a:endParaRPr lang="en-US" sz="2000" dirty="0"/>
          </a:p>
          <a:p>
            <a:endParaRPr lang="en-US" sz="2000" dirty="0" smtClean="0"/>
          </a:p>
          <a:p>
            <a:r>
              <a:rPr lang="en-US" sz="2000" dirty="0" smtClean="0"/>
              <a:t>(This can be explained little further.)</a:t>
            </a:r>
          </a:p>
          <a:p>
            <a:endParaRPr lang="en-US" sz="2000" dirty="0"/>
          </a:p>
          <a:p>
            <a:r>
              <a:rPr lang="en-US" sz="2000" dirty="0" smtClean="0"/>
              <a:t>Let me walk through the application using a Mobile phone.</a:t>
            </a:r>
          </a:p>
        </p:txBody>
      </p:sp>
    </p:spTree>
    <p:extLst>
      <p:ext uri="{BB962C8B-B14F-4D97-AF65-F5344CB8AC3E}">
        <p14:creationId xmlns:p14="http://schemas.microsoft.com/office/powerpoint/2010/main" val="2530459103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14"/>
          <p:cNvSpPr>
            <a:spLocks noGrp="1"/>
          </p:cNvSpPr>
          <p:nvPr>
            <p:ph type="sldNum" sz="quarter" idx="14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mtClean="0">
                <a:solidFill>
                  <a:srgbClr val="000000"/>
                </a:solidFill>
              </a:rPr>
              <a:t>Page </a:t>
            </a:r>
            <a:fld id="{ACC5980C-6F40-1048-BC61-1701E5E4E8FB}" type="slidenum">
              <a:rPr lang="en-US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44035" name="Footer Placeholder 13"/>
          <p:cNvSpPr>
            <a:spLocks noGrp="1"/>
          </p:cNvSpPr>
          <p:nvPr>
            <p:ph type="ftr" sz="quarter" idx="15"/>
          </p:nvPr>
        </p:nvSpPr>
        <p:spPr bwMode="auto">
          <a:xfrm>
            <a:off x="3530600" y="6197417"/>
            <a:ext cx="4505325" cy="153987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Monthly Updates - </a:t>
            </a:r>
            <a:r>
              <a:rPr lang="en-US" dirty="0" smtClean="0">
                <a:solidFill>
                  <a:srgbClr val="000000"/>
                </a:solidFill>
              </a:rPr>
              <a:t>&lt;Network Integration Services&gt;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6868" name="Title 3"/>
          <p:cNvSpPr>
            <a:spLocks noGrp="1"/>
          </p:cNvSpPr>
          <p:nvPr>
            <p:ph type="title"/>
          </p:nvPr>
        </p:nvSpPr>
        <p:spPr>
          <a:xfrm>
            <a:off x="606997" y="266351"/>
            <a:ext cx="7951787" cy="739775"/>
          </a:xfrm>
        </p:spPr>
        <p:txBody>
          <a:bodyPr/>
          <a:lstStyle/>
          <a:p>
            <a:r>
              <a:rPr lang="en-US" dirty="0" smtClean="0">
                <a:latin typeface="Arial" charset="0"/>
              </a:rPr>
              <a:t>CDK Value</a:t>
            </a:r>
            <a:endParaRPr lang="en-US" dirty="0">
              <a:latin typeface="Arial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11448" y="1084405"/>
            <a:ext cx="793432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This is a App </a:t>
            </a:r>
            <a:r>
              <a:rPr lang="en-US" sz="2000" dirty="0" smtClean="0"/>
              <a:t>by </a:t>
            </a:r>
            <a:r>
              <a:rPr lang="en-US" sz="2000" dirty="0"/>
              <a:t>CDK developed in Android and IOS to be used by Dealership </a:t>
            </a:r>
            <a:r>
              <a:rPr lang="en-US" sz="2000" dirty="0" smtClean="0"/>
              <a:t>customers.</a:t>
            </a:r>
          </a:p>
          <a:p>
            <a:endParaRPr lang="en-US" sz="2000" dirty="0"/>
          </a:p>
          <a:p>
            <a:r>
              <a:rPr lang="en-US" sz="2000" dirty="0" smtClean="0"/>
              <a:t>Two </a:t>
            </a:r>
            <a:r>
              <a:rPr lang="en-US" sz="2000" dirty="0"/>
              <a:t>Revenue models are being worked at this time</a:t>
            </a:r>
            <a:r>
              <a:rPr lang="en-US" sz="2000" dirty="0" smtClean="0"/>
              <a:t>.</a:t>
            </a:r>
          </a:p>
          <a:p>
            <a:endParaRPr lang="en-US" sz="2000" dirty="0"/>
          </a:p>
          <a:p>
            <a:pPr marL="457200" indent="-457200">
              <a:buAutoNum type="arabicPeriod"/>
            </a:pPr>
            <a:r>
              <a:rPr lang="en-US" sz="2000" dirty="0" smtClean="0"/>
              <a:t>One </a:t>
            </a:r>
            <a:r>
              <a:rPr lang="en-US" sz="2000" dirty="0"/>
              <a:t>Time </a:t>
            </a:r>
            <a:r>
              <a:rPr lang="en-US" sz="2000" dirty="0" smtClean="0"/>
              <a:t>Cost:</a:t>
            </a:r>
          </a:p>
          <a:p>
            <a:r>
              <a:rPr lang="en-US" sz="2000" dirty="0" smtClean="0"/>
              <a:t>	In </a:t>
            </a:r>
            <a:r>
              <a:rPr lang="en-US" sz="2000" dirty="0"/>
              <a:t>this model, the dealership invests $50 for 25 licenses. </a:t>
            </a:r>
            <a:endParaRPr lang="en-US" sz="2000" dirty="0" smtClean="0"/>
          </a:p>
          <a:p>
            <a:r>
              <a:rPr lang="en-US" sz="2000" dirty="0"/>
              <a:t>	</a:t>
            </a:r>
            <a:r>
              <a:rPr lang="en-US" sz="2000" dirty="0" smtClean="0"/>
              <a:t>Maintenance </a:t>
            </a:r>
            <a:r>
              <a:rPr lang="en-US" sz="2000" dirty="0"/>
              <a:t>would be done by CDK for a 5 year period. </a:t>
            </a:r>
            <a:r>
              <a:rPr lang="en-US" sz="2000" dirty="0" smtClean="0"/>
              <a:t>	Renewal </a:t>
            </a:r>
            <a:r>
              <a:rPr lang="en-US" sz="2000" dirty="0"/>
              <a:t>of the licenses will happen every 5 years</a:t>
            </a:r>
            <a:r>
              <a:rPr lang="en-US" sz="2000" dirty="0" smtClean="0"/>
              <a:t>.</a:t>
            </a:r>
          </a:p>
          <a:p>
            <a:pPr marL="457200" indent="-457200">
              <a:buAutoNum type="arabicPeriod"/>
            </a:pPr>
            <a:endParaRPr lang="en-US" sz="2000" dirty="0" smtClean="0"/>
          </a:p>
          <a:p>
            <a:pPr marL="457200" indent="-457200">
              <a:buFont typeface="+mj-lt"/>
              <a:buAutoNum type="arabicPeriod" startAt="2"/>
            </a:pPr>
            <a:r>
              <a:rPr lang="en-US" sz="2000" dirty="0" smtClean="0"/>
              <a:t>Recurring </a:t>
            </a:r>
            <a:r>
              <a:rPr lang="en-US" sz="2000" dirty="0"/>
              <a:t>Revenue </a:t>
            </a:r>
            <a:r>
              <a:rPr lang="en-US" sz="2000" dirty="0" smtClean="0"/>
              <a:t>Model:</a:t>
            </a:r>
          </a:p>
          <a:p>
            <a:r>
              <a:rPr lang="en-US" sz="2000" dirty="0" smtClean="0"/>
              <a:t>	The </a:t>
            </a:r>
            <a:r>
              <a:rPr lang="en-US" sz="2000" dirty="0"/>
              <a:t>dealership will get this App for free. Maintenance cost </a:t>
            </a:r>
            <a:r>
              <a:rPr lang="en-US" sz="2000" dirty="0" smtClean="0"/>
              <a:t>	will </a:t>
            </a:r>
            <a:r>
              <a:rPr lang="en-US" sz="2000" dirty="0"/>
              <a:t>be $25 for every year. App will expire in 5 years. </a:t>
            </a:r>
            <a:endParaRPr lang="en-US" sz="2000" dirty="0" smtClean="0"/>
          </a:p>
          <a:p>
            <a:endParaRPr lang="en-US" sz="2000" dirty="0"/>
          </a:p>
          <a:p>
            <a:r>
              <a:rPr lang="en-US" sz="2000" dirty="0" smtClean="0"/>
              <a:t>CDK </a:t>
            </a:r>
            <a:r>
              <a:rPr lang="en-US" sz="2000" dirty="0"/>
              <a:t>can generate revenue with this App as this will </a:t>
            </a:r>
            <a:r>
              <a:rPr lang="en-US" sz="2000" dirty="0" smtClean="0"/>
              <a:t>be very </a:t>
            </a:r>
            <a:r>
              <a:rPr lang="en-US" sz="2000" dirty="0"/>
              <a:t>helpful to dealership customers.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3624835364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Page </a:t>
            </a:r>
            <a:fld id="{0F0F3D35-42EE-2C4F-87B5-85519167EC69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Data Strategy and BI at CDK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0" y="542122"/>
            <a:ext cx="9476509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Sending </a:t>
            </a:r>
            <a:r>
              <a:rPr lang="en-US" dirty="0">
                <a:solidFill>
                  <a:srgbClr val="FF0000"/>
                </a:solidFill>
              </a:rPr>
              <a:t>reminders and notifications </a:t>
            </a:r>
            <a:r>
              <a:rPr lang="en-US" dirty="0"/>
              <a:t>about the next due service, insurance and registration renewals 1-2 weeks before the due date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Sending </a:t>
            </a:r>
            <a:r>
              <a:rPr lang="en-US" dirty="0">
                <a:solidFill>
                  <a:srgbClr val="FF0000"/>
                </a:solidFill>
              </a:rPr>
              <a:t>exclusive offers and discount codes </a:t>
            </a:r>
            <a:r>
              <a:rPr lang="en-US" dirty="0"/>
              <a:t>on Parts, Accessories, and Servicing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 Allow to </a:t>
            </a:r>
            <a:r>
              <a:rPr lang="en-US" dirty="0">
                <a:solidFill>
                  <a:srgbClr val="FF0000"/>
                </a:solidFill>
              </a:rPr>
              <a:t>book Service Appointments </a:t>
            </a:r>
            <a:r>
              <a:rPr lang="en-US" dirty="0"/>
              <a:t>in no-time – he can even have the option register vehicle complaints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When the servicing is completed the </a:t>
            </a:r>
            <a:r>
              <a:rPr lang="en-US" dirty="0">
                <a:solidFill>
                  <a:srgbClr val="FF0000"/>
                </a:solidFill>
              </a:rPr>
              <a:t>Repair Order e-Invoice</a:t>
            </a:r>
            <a:r>
              <a:rPr lang="en-US" dirty="0"/>
              <a:t> can be sent to the app with </a:t>
            </a:r>
            <a:r>
              <a:rPr lang="en-US" dirty="0">
                <a:solidFill>
                  <a:srgbClr val="FF0000"/>
                </a:solidFill>
              </a:rPr>
              <a:t>total payable amount</a:t>
            </a:r>
            <a:r>
              <a:rPr lang="en-US" dirty="0"/>
              <a:t>; he will have the option to </a:t>
            </a:r>
            <a:r>
              <a:rPr lang="en-US" dirty="0">
                <a:solidFill>
                  <a:srgbClr val="FF0000"/>
                </a:solidFill>
              </a:rPr>
              <a:t>pay from the app </a:t>
            </a:r>
            <a:r>
              <a:rPr lang="en-US" dirty="0"/>
              <a:t>itself (this will reduce the time customer needs to spend for clearing the invoice and getting his serviced car delivered)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Last but not the least</a:t>
            </a:r>
            <a:r>
              <a:rPr lang="en-US" dirty="0"/>
              <a:t>, the most important and needed function would be the </a:t>
            </a:r>
            <a:r>
              <a:rPr lang="en-US" dirty="0">
                <a:solidFill>
                  <a:srgbClr val="FF0000"/>
                </a:solidFill>
              </a:rPr>
              <a:t>Road Side Assistance </a:t>
            </a:r>
            <a:r>
              <a:rPr lang="en-US" dirty="0"/>
              <a:t>in case of vehicle breakdowns by just a click of a button</a:t>
            </a:r>
          </a:p>
        </p:txBody>
      </p:sp>
    </p:spTree>
    <p:extLst>
      <p:ext uri="{BB962C8B-B14F-4D97-AF65-F5344CB8AC3E}">
        <p14:creationId xmlns:p14="http://schemas.microsoft.com/office/powerpoint/2010/main" val="3252788141"/>
      </p:ext>
    </p:extLst>
  </p:cSld>
  <p:clrMapOvr>
    <a:masterClrMapping/>
  </p:clrMapOvr>
</p:sld>
</file>

<file path=ppt/theme/theme1.xml><?xml version="1.0" encoding="utf-8"?>
<a:theme xmlns:a="http://schemas.openxmlformats.org/drawingml/2006/main" name="CDK PPT Template (4x3 full screen)_111314">
  <a:themeElements>
    <a:clrScheme name="CDK Global Palette 10282104">
      <a:dk1>
        <a:srgbClr val="000000"/>
      </a:dk1>
      <a:lt1>
        <a:sysClr val="window" lastClr="FFFFFF"/>
      </a:lt1>
      <a:dk2>
        <a:srgbClr val="82C600"/>
      </a:dk2>
      <a:lt2>
        <a:srgbClr val="333333"/>
      </a:lt2>
      <a:accent1>
        <a:srgbClr val="82C600"/>
      </a:accent1>
      <a:accent2>
        <a:srgbClr val="00B2A9"/>
      </a:accent2>
      <a:accent3>
        <a:srgbClr val="00C389"/>
      </a:accent3>
      <a:accent4>
        <a:srgbClr val="A4D65E"/>
      </a:accent4>
      <a:accent5>
        <a:srgbClr val="D0DF00"/>
      </a:accent5>
      <a:accent6>
        <a:srgbClr val="00A9CE"/>
      </a:accent6>
      <a:hlink>
        <a:srgbClr val="800080"/>
      </a:hlink>
      <a:folHlink>
        <a:srgbClr val="BBBDBF"/>
      </a:folHlink>
    </a:clrScheme>
    <a:fontScheme name="CDK_PPT_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955364226B3DD47B1E5B23D860A0C25" ma:contentTypeVersion="8" ma:contentTypeDescription="Create a new document." ma:contentTypeScope="" ma:versionID="d58508116aec46ae68cbb6bbd9147d05">
  <xsd:schema xmlns:xsd="http://www.w3.org/2001/XMLSchema" xmlns:xs="http://www.w3.org/2001/XMLSchema" xmlns:p="http://schemas.microsoft.com/office/2006/metadata/properties" xmlns:ns2="13169f86-22db-4314-b672-dce85a569ea0" xmlns:ns3="2acbe507-c765-4486-8ffa-0e535bf3749a" targetNamespace="http://schemas.microsoft.com/office/2006/metadata/properties" ma:root="true" ma:fieldsID="dba824180688da4837f5dd204738987e" ns2:_="" ns3:_="">
    <xsd:import namespace="13169f86-22db-4314-b672-dce85a569ea0"/>
    <xsd:import namespace="2acbe507-c765-4486-8ffa-0e535bf3749a"/>
    <xsd:element name="properties">
      <xsd:complexType>
        <xsd:sequence>
          <xsd:element name="documentManagement">
            <xsd:complexType>
              <xsd:all>
                <xsd:element ref="ns2:Sub_x0020_Category" minOccurs="0"/>
                <xsd:element ref="ns3:_dlc_DocId" minOccurs="0"/>
                <xsd:element ref="ns3:_dlc_DocIdUrl" minOccurs="0"/>
                <xsd:element ref="ns3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169f86-22db-4314-b672-dce85a569ea0" elementFormDefault="qualified">
    <xsd:import namespace="http://schemas.microsoft.com/office/2006/documentManagement/types"/>
    <xsd:import namespace="http://schemas.microsoft.com/office/infopath/2007/PartnerControls"/>
    <xsd:element name="Sub_x0020_Category" ma:index="8" nillable="true" ma:displayName="Category" ma:format="RadioButtons" ma:internalName="Sub_x0020_Category">
      <xsd:simpleType>
        <xsd:restriction base="dms:Choice">
          <xsd:enumeration value="1) Logos"/>
          <xsd:enumeration value="2) Brand Standards"/>
          <xsd:enumeration value="3) Letterhead"/>
          <xsd:enumeration value="4) PowerPoint Templates"/>
          <xsd:enumeration value="5) Desktop Wallpapers"/>
          <xsd:enumeration value="6) Images"/>
          <xsd:enumeration value="7) Movie Assets"/>
          <xsd:enumeration value="8) Virtual Walk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cbe507-c765-4486-8ffa-0e535bf3749a" elementFormDefault="qualified">
    <xsd:import namespace="http://schemas.microsoft.com/office/2006/documentManagement/types"/>
    <xsd:import namespace="http://schemas.microsoft.com/office/infopath/2007/PartnerControls"/>
    <xsd:element name="_dlc_DocId" ma:index="9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10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1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Item 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ub_x0020_Category xmlns="13169f86-22db-4314-b672-dce85a569ea0">4) PowerPoint Templates</Sub_x0020_Category>
    <_dlc_DocId xmlns="2acbe507-c765-4486-8ffa-0e535bf3749a">F3WKH5EXC3UR-10-132</_dlc_DocId>
    <_dlc_DocIdUrl xmlns="2acbe507-c765-4486-8ffa-0e535bf3749a">
      <Url>http://adpdsportal.ds.ad.adp.com/_layouts/DocIdRedir.aspx?ID=F3WKH5EXC3UR-10-132</Url>
      <Description>F3WKH5EXC3UR-10-132</Description>
    </_dlc_DocIdUrl>
  </documentManagement>
</p:properties>
</file>

<file path=customXml/itemProps1.xml><?xml version="1.0" encoding="utf-8"?>
<ds:datastoreItem xmlns:ds="http://schemas.openxmlformats.org/officeDocument/2006/customXml" ds:itemID="{D0955B54-306D-4828-9C2E-0368C1248D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3169f86-22db-4314-b672-dce85a569ea0"/>
    <ds:schemaRef ds:uri="2acbe507-c765-4486-8ffa-0e535bf3749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0488797-01F8-43AA-8759-6BFF2753C394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E73854BD-6B82-438B-834E-3E95EC998D56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D3FCF614-8092-49A9-A573-78BCB18F2C59}">
  <ds:schemaRefs>
    <ds:schemaRef ds:uri="2acbe507-c765-4486-8ffa-0e535bf3749a"/>
    <ds:schemaRef ds:uri="http://purl.org/dc/dcmitype/"/>
    <ds:schemaRef ds:uri="http://www.w3.org/XML/1998/namespace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13169f86-22db-4314-b672-dce85a569ea0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CDK PPT Template (4x3 full screen)_111314.pot</Template>
  <TotalTime>23531</TotalTime>
  <Words>328</Words>
  <Application>Microsoft Office PowerPoint</Application>
  <PresentationFormat>On-screen Show (4:3)</PresentationFormat>
  <Paragraphs>46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ＭＳ Ｐゴシック</vt:lpstr>
      <vt:lpstr>Arial</vt:lpstr>
      <vt:lpstr>Calibri</vt:lpstr>
      <vt:lpstr>Trebuchet MS</vt:lpstr>
      <vt:lpstr>CDK PPT Template (4x3 full screen)_111314</vt:lpstr>
      <vt:lpstr>Ionic – Hackathon 2017 21-Jul-2017</vt:lpstr>
      <vt:lpstr>Context Setting</vt:lpstr>
      <vt:lpstr>Content</vt:lpstr>
      <vt:lpstr>CDK Value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 Title Slide #3A (24pt)</dc:title>
  <dc:subject/>
  <dc:creator>Sahoo, Tapan</dc:creator>
  <cp:keywords/>
  <dc:description/>
  <cp:lastModifiedBy>Kaliappan, Saravanan</cp:lastModifiedBy>
  <cp:revision>449</cp:revision>
  <cp:lastPrinted>2016-01-20T12:52:33Z</cp:lastPrinted>
  <dcterms:created xsi:type="dcterms:W3CDTF">2014-10-09T21:27:07Z</dcterms:created>
  <dcterms:modified xsi:type="dcterms:W3CDTF">2017-07-21T04:20:07Z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0x0101001955364226B3DD47B1E5B23D860A0C25</vt:lpwstr>
  </property>
  <property fmtid="{D5CDD505-2E9C-101B-9397-08002B2CF9AE}" pid="3" name="_dlc_DocIdItemGuid">
    <vt:lpwstr>38f77367-fd5c-4262-9157-415d52d0b57c</vt:lpwstr>
  </property>
</Properties>
</file>